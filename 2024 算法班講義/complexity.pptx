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71" r:id="rId10"/>
    <p:sldId id="262" r:id="rId11"/>
    <p:sldId id="264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1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5D663-15D9-4BCF-8A8B-9E2A573CA533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B29F5-5BB4-4E7F-B247-1EF740E3E0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979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1B29F5-5BB4-4E7F-B247-1EF740E3E05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832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657" y="2035340"/>
            <a:ext cx="9525000" cy="106421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FC6E0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11157" y="3547227"/>
            <a:ext cx="9144000" cy="191377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2B1B-7E21-4492-859A-4AA7F97D6F0B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C312-C740-40B5-B6A9-0936D0602A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12936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76400" y="462548"/>
            <a:ext cx="5905500" cy="794752"/>
          </a:xfrm>
          <a:solidFill>
            <a:schemeClr val="bg1">
              <a:alpha val="30196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>
            <a:lvl1pPr algn="ctr">
              <a:defRPr sz="340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r>
              <a:rPr lang="en-US" altLang="zh-TW" dirty="0" smtClean="0"/>
              <a:t>XD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104900" y="1587230"/>
            <a:ext cx="10515600" cy="4629693"/>
          </a:xfrm>
        </p:spPr>
        <p:txBody>
          <a:bodyPr/>
          <a:lstStyle>
            <a:lvl1pPr marL="274638" indent="-274638" defTabSz="723900">
              <a:buFont typeface="Arial" panose="020B0604020202020204" pitchFamily="34" charset="0"/>
              <a:buChar char="•"/>
              <a:defRPr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</a:defRPr>
            </a:lvl1pPr>
            <a:lvl2pPr marL="627063" indent="-284163" defTabSz="723900">
              <a:buFont typeface="Arial" panose="020B0604020202020204" pitchFamily="34" charset="0"/>
              <a:buChar char="•"/>
              <a:tabLst/>
              <a:defRPr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</a:defRPr>
            </a:lvl2pPr>
            <a:lvl3pPr defTabSz="723900">
              <a:defRPr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</a:defRPr>
            </a:lvl3pPr>
            <a:lvl4pPr defTabSz="723900">
              <a:defRPr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</a:defRPr>
            </a:lvl4pPr>
            <a:lvl5pPr defTabSz="723900">
              <a:defRPr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</a:defRPr>
            </a:lvl5pPr>
          </a:lstStyle>
          <a:p>
            <a:pPr lvl="0"/>
            <a:r>
              <a:rPr lang="zh-TW" altLang="en-US" dirty="0" smtClean="0"/>
              <a:t>編輯母片文字樣式</a:t>
            </a:r>
            <a:r>
              <a:rPr lang="en-US" altLang="zh-TW" dirty="0" smtClean="0"/>
              <a:t>XD</a:t>
            </a:r>
          </a:p>
          <a:p>
            <a:pPr lvl="1"/>
            <a:r>
              <a:rPr lang="zh-TW" altLang="en-US" dirty="0" smtClean="0"/>
              <a:t>第二層</a:t>
            </a:r>
            <a:r>
              <a:rPr lang="en-US" altLang="zh-TW" dirty="0" smtClean="0"/>
              <a:t>XD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r>
              <a:rPr lang="en-US" altLang="zh-TW" dirty="0" smtClean="0"/>
              <a:t>XD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r>
              <a:rPr lang="en-US" altLang="zh-TW" dirty="0" smtClean="0"/>
              <a:t>XD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r>
              <a:rPr lang="en-US" altLang="zh-TW" dirty="0" smtClean="0"/>
              <a:t>XD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2B1B-7E21-4492-859A-4AA7F97D6F0B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C312-C740-40B5-B6A9-0936D0602A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694290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2B1B-7E21-4492-859A-4AA7F97D6F0B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C312-C740-40B5-B6A9-0936D0602A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6910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2B1B-7E21-4492-859A-4AA7F97D6F0B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C312-C740-40B5-B6A9-0936D0602A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60767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2B1B-7E21-4492-859A-4AA7F97D6F0B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C312-C740-40B5-B6A9-0936D0602A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75686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2B1B-7E21-4492-859A-4AA7F97D6F0B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C312-C740-40B5-B6A9-0936D0602A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02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2B1B-7E21-4492-859A-4AA7F97D6F0B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C312-C740-40B5-B6A9-0936D0602A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575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2B1B-7E21-4492-859A-4AA7F97D6F0B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C312-C740-40B5-B6A9-0936D0602A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308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2B1B-7E21-4492-859A-4AA7F97D6F0B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C312-C740-40B5-B6A9-0936D0602A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2069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2B1B-7E21-4492-859A-4AA7F97D6F0B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C312-C740-40B5-B6A9-0936D0602A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02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32B1B-7E21-4492-859A-4AA7F97D6F0B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0C312-C740-40B5-B6A9-0936D0602A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49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3206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 smtClean="0"/>
              <a:t>按一下以編輯母片標題樣式</a:t>
            </a:r>
            <a:r>
              <a:rPr lang="en-US" altLang="zh-TW" dirty="0" smtClean="0"/>
              <a:t>XD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  <a:r>
              <a:rPr lang="en-US" altLang="zh-TW" dirty="0" smtClean="0"/>
              <a:t>XD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r>
              <a:rPr lang="en-US" altLang="zh-TW" dirty="0" smtClean="0"/>
              <a:t>XD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r>
              <a:rPr lang="en-US" altLang="zh-TW" dirty="0" smtClean="0"/>
              <a:t>XD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r>
              <a:rPr lang="en-US" altLang="zh-TW" dirty="0" smtClean="0"/>
              <a:t>XD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r>
              <a:rPr lang="en-US" altLang="zh-TW" dirty="0" smtClean="0"/>
              <a:t>XD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32B1B-7E21-4492-859A-4AA7F97D6F0B}" type="datetimeFigureOut">
              <a:rPr lang="zh-TW" altLang="en-US" smtClean="0"/>
              <a:t>2017/2/26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0C312-C740-40B5-B6A9-0936D0602A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954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Consolas" panose="020B0609020204030204" pitchFamily="49" charset="0"/>
          <a:ea typeface="微軟正黑體" panose="020B0604030504040204" pitchFamily="34" charset="-120"/>
          <a:cs typeface="Consolas" panose="020B0609020204030204" pitchFamily="49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軟正黑體" panose="020B0604030504040204" pitchFamily="34" charset="-120"/>
          <a:cs typeface="Consolas" panose="020B0609020204030204" pitchFamily="49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軟正黑體" panose="020B0604030504040204" pitchFamily="34" charset="-120"/>
          <a:cs typeface="Consolas" panose="020B0609020204030204" pitchFamily="49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軟正黑體" panose="020B0604030504040204" pitchFamily="34" charset="-120"/>
          <a:cs typeface="Consolas" panose="020B0609020204030204" pitchFamily="49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軟正黑體" panose="020B0604030504040204" pitchFamily="34" charset="-120"/>
          <a:cs typeface="Consolas" panose="020B0609020204030204" pitchFamily="49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onsolas" panose="020B0609020204030204" pitchFamily="49" charset="0"/>
          <a:ea typeface="微軟正黑體" panose="020B0604030504040204" pitchFamily="34" charset="-120"/>
          <a:cs typeface="Consolas" panose="020B0609020204030204" pitchFamily="49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Complexity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TW" smtClean="0"/>
              <a:t>by </a:t>
            </a:r>
            <a:r>
              <a:rPr lang="en-US" altLang="zh-TW" dirty="0" smtClean="0"/>
              <a:t>Chin-Huang Lin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2673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在之前的投影片中</a:t>
            </a:r>
            <a:r>
              <a:rPr lang="en-US" altLang="zh-TW" dirty="0" smtClean="0"/>
              <a:t>……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/>
              <a:t>我們提到資訊之芽會教你</a:t>
            </a:r>
            <a:r>
              <a:rPr lang="en-US" altLang="zh-TW" sz="2400" dirty="0" smtClean="0"/>
              <a:t>……</a:t>
            </a:r>
          </a:p>
          <a:p>
            <a:pPr lvl="1"/>
            <a:r>
              <a:rPr lang="zh-TW" altLang="en-US" sz="2000" dirty="0"/>
              <a:t>如何比較兩個演算法，哪一個比較「好」</a:t>
            </a:r>
            <a:r>
              <a:rPr lang="zh-TW" altLang="en-US" sz="2000" dirty="0" smtClean="0"/>
              <a:t>？</a:t>
            </a:r>
            <a:endParaRPr lang="en-US" altLang="zh-TW" sz="2000" dirty="0" smtClean="0"/>
          </a:p>
          <a:p>
            <a:r>
              <a:rPr lang="zh-TW" altLang="en-US" sz="2400" dirty="0"/>
              <a:t>問題</a:t>
            </a:r>
            <a:r>
              <a:rPr lang="zh-TW" altLang="en-US" sz="2400" dirty="0" smtClean="0"/>
              <a:t>是：什麼叫做好？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9059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對一個程式來說</a:t>
            </a:r>
            <a:r>
              <a:rPr lang="en-US" altLang="zh-TW" dirty="0" smtClean="0"/>
              <a:t>……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04900" y="1587230"/>
            <a:ext cx="10515600" cy="5169170"/>
          </a:xfrm>
        </p:spPr>
        <p:txBody>
          <a:bodyPr>
            <a:normAutofit/>
          </a:bodyPr>
          <a:lstStyle/>
          <a:p>
            <a:r>
              <a:rPr lang="zh-TW" altLang="en-US" sz="2400" dirty="0" smtClean="0"/>
              <a:t>如果</a:t>
            </a:r>
            <a:r>
              <a:rPr lang="en-US" altLang="zh-TW" sz="2400" dirty="0" smtClean="0"/>
              <a:t>……</a:t>
            </a:r>
            <a:r>
              <a:rPr lang="zh-TW" altLang="en-US" sz="2400" dirty="0" smtClean="0"/>
              <a:t>，你會覺得好</a:t>
            </a:r>
            <a:endParaRPr lang="en-US" altLang="zh-TW" sz="2400" dirty="0" smtClean="0"/>
          </a:p>
          <a:p>
            <a:pPr lvl="1"/>
            <a:r>
              <a:rPr lang="zh-TW" altLang="en-US" sz="2000" dirty="0" smtClean="0"/>
              <a:t>時間花得少 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運行速度</a:t>
            </a:r>
            <a:r>
              <a:rPr lang="en-US" altLang="zh-TW" sz="2000" dirty="0" smtClean="0"/>
              <a:t>)</a:t>
            </a:r>
          </a:p>
          <a:p>
            <a:pPr lvl="2"/>
            <a:r>
              <a:rPr lang="en-US" altLang="zh-TW" sz="1800" dirty="0" smtClean="0"/>
              <a:t>ex. </a:t>
            </a:r>
            <a:r>
              <a:rPr lang="en-US" altLang="zh-TW" sz="1800" dirty="0" err="1" smtClean="0"/>
              <a:t>C_r_m</a:t>
            </a:r>
            <a:r>
              <a:rPr lang="en-US" altLang="zh-TW" sz="1800" dirty="0" smtClean="0"/>
              <a:t>_ vs </a:t>
            </a:r>
            <a:r>
              <a:rPr lang="en-US" altLang="zh-TW" sz="1800" dirty="0" err="1" smtClean="0"/>
              <a:t>I_t_rn_t</a:t>
            </a:r>
            <a:r>
              <a:rPr lang="en-US" altLang="zh-TW" sz="1800" dirty="0" smtClean="0"/>
              <a:t> </a:t>
            </a:r>
            <a:r>
              <a:rPr lang="en-US" altLang="zh-TW" sz="1800" dirty="0" err="1" smtClean="0"/>
              <a:t>Ex_lo_e</a:t>
            </a:r>
            <a:r>
              <a:rPr lang="en-US" altLang="zh-TW" sz="1800" dirty="0" smtClean="0"/>
              <a:t>_</a:t>
            </a:r>
          </a:p>
          <a:p>
            <a:pPr lvl="1"/>
            <a:r>
              <a:rPr lang="zh-TW" altLang="en-US" sz="2000" dirty="0"/>
              <a:t>空間花</a:t>
            </a:r>
            <a:r>
              <a:rPr lang="zh-TW" altLang="en-US" sz="2000" dirty="0" smtClean="0"/>
              <a:t>得少</a:t>
            </a:r>
            <a:endParaRPr lang="en-US" altLang="zh-TW" sz="2000" dirty="0" smtClean="0"/>
          </a:p>
          <a:p>
            <a:pPr lvl="2"/>
            <a:r>
              <a:rPr lang="en-US" altLang="zh-TW" sz="1800" dirty="0" smtClean="0"/>
              <a:t>ex. </a:t>
            </a:r>
            <a:r>
              <a:rPr lang="en-US" altLang="zh-TW" sz="1800" dirty="0" err="1" smtClean="0"/>
              <a:t>Fi_ef_x</a:t>
            </a:r>
            <a:r>
              <a:rPr lang="en-US" altLang="zh-TW" sz="1800" dirty="0" smtClean="0"/>
              <a:t> vs </a:t>
            </a:r>
            <a:r>
              <a:rPr lang="en-US" altLang="zh-TW" sz="1800" dirty="0" err="1" smtClean="0"/>
              <a:t>Ch_o_e</a:t>
            </a:r>
            <a:endParaRPr lang="en-US" altLang="zh-TW" sz="1800" dirty="0" smtClean="0"/>
          </a:p>
          <a:p>
            <a:pPr lvl="1"/>
            <a:r>
              <a:rPr lang="zh-TW" altLang="en-US" sz="2000" dirty="0" smtClean="0"/>
              <a:t>正確率較高</a:t>
            </a:r>
            <a:endParaRPr lang="en-US" altLang="zh-TW" sz="2000" dirty="0" smtClean="0"/>
          </a:p>
          <a:p>
            <a:pPr lvl="2"/>
            <a:r>
              <a:rPr lang="en-US" altLang="zh-TW" sz="1800" dirty="0" smtClean="0"/>
              <a:t>ex. </a:t>
            </a:r>
            <a:r>
              <a:rPr lang="en-US" altLang="zh-TW" sz="1800" dirty="0" err="1" smtClean="0"/>
              <a:t>B_td_f_nd_r</a:t>
            </a:r>
            <a:r>
              <a:rPr lang="en-US" altLang="zh-TW" sz="1800" dirty="0" smtClean="0"/>
              <a:t> vs </a:t>
            </a:r>
            <a:r>
              <a:rPr lang="en-US" altLang="zh-TW" sz="1800" dirty="0" err="1" smtClean="0"/>
              <a:t>M_Af_e</a:t>
            </a:r>
            <a:endParaRPr lang="en-US" altLang="zh-TW" sz="2200" dirty="0" smtClean="0"/>
          </a:p>
          <a:p>
            <a:pPr lvl="1"/>
            <a:r>
              <a:rPr lang="zh-TW" altLang="en-US" sz="2000" dirty="0" smtClean="0"/>
              <a:t>相容性較高</a:t>
            </a:r>
            <a:endParaRPr lang="en-US" altLang="zh-TW" sz="2000" dirty="0" smtClean="0"/>
          </a:p>
          <a:p>
            <a:pPr lvl="2"/>
            <a:r>
              <a:rPr lang="en-US" altLang="zh-TW" sz="1800" dirty="0" smtClean="0"/>
              <a:t>ex. </a:t>
            </a:r>
            <a:r>
              <a:rPr lang="en-US" altLang="zh-TW" sz="1800" dirty="0" err="1" smtClean="0"/>
              <a:t>W_nd_ws</a:t>
            </a:r>
            <a:r>
              <a:rPr lang="en-US" altLang="zh-TW" sz="1800" dirty="0" smtClean="0"/>
              <a:t> vs </a:t>
            </a:r>
            <a:r>
              <a:rPr lang="en-US" altLang="zh-TW" sz="1800" dirty="0" err="1" smtClean="0"/>
              <a:t>L_n_x</a:t>
            </a:r>
            <a:endParaRPr lang="en-US" altLang="zh-TW" sz="1800" dirty="0" smtClean="0"/>
          </a:p>
          <a:p>
            <a:pPr lvl="1"/>
            <a:r>
              <a:rPr lang="zh-TW" altLang="en-US" sz="2000" dirty="0" smtClean="0"/>
              <a:t>開發</a:t>
            </a:r>
            <a:r>
              <a:rPr lang="zh-TW" altLang="en-US" sz="2000" dirty="0"/>
              <a:t>成本</a:t>
            </a:r>
            <a:r>
              <a:rPr lang="zh-TW" altLang="en-US" sz="2000" dirty="0" smtClean="0"/>
              <a:t>低</a:t>
            </a:r>
            <a:endParaRPr lang="en-US" altLang="zh-TW" sz="2000" dirty="0" smtClean="0"/>
          </a:p>
          <a:p>
            <a:pPr>
              <a:buFont typeface="Consolas" panose="020B0609020204030204" pitchFamily="49" charset="0"/>
              <a:buChar char="♪"/>
            </a:pPr>
            <a:r>
              <a:rPr lang="zh-TW" altLang="en-US" sz="2400" dirty="0" smtClean="0"/>
              <a:t>平衡是很重要的事情</a:t>
            </a:r>
            <a:endParaRPr lang="en-US" altLang="zh-TW" sz="2400" dirty="0" smtClean="0"/>
          </a:p>
          <a:p>
            <a:pPr lvl="1">
              <a:buFont typeface="Consolas" panose="020B0609020204030204" pitchFamily="49" charset="0"/>
              <a:buChar char="♪"/>
            </a:pPr>
            <a:r>
              <a:rPr lang="zh-TW" altLang="en-US" sz="2000" dirty="0" smtClean="0"/>
              <a:t>美國</a:t>
            </a:r>
            <a:r>
              <a:rPr lang="zh-TW" altLang="en-US" sz="2000" dirty="0"/>
              <a:t>進行人口普查，在沒有電腦</a:t>
            </a:r>
            <a:r>
              <a:rPr lang="zh-TW" altLang="en-US" sz="2000" dirty="0" smtClean="0"/>
              <a:t>前每</a:t>
            </a:r>
            <a:r>
              <a:rPr lang="en-US" altLang="zh-TW" sz="2000" dirty="0" smtClean="0"/>
              <a:t>10</a:t>
            </a:r>
            <a:r>
              <a:rPr lang="zh-TW" altLang="en-US" sz="2000" dirty="0"/>
              <a:t>年進行一次，完成一次的統計需要</a:t>
            </a:r>
            <a:r>
              <a:rPr lang="en-US" altLang="zh-TW" sz="2000" dirty="0"/>
              <a:t>7.5</a:t>
            </a:r>
            <a:r>
              <a:rPr lang="zh-TW" altLang="en-US" sz="2000" dirty="0"/>
              <a:t>年</a:t>
            </a:r>
            <a:r>
              <a:rPr lang="en-US" altLang="zh-TW" sz="2000" dirty="0"/>
              <a:t> </a:t>
            </a:r>
            <a:r>
              <a:rPr lang="zh-TW" altLang="en-US" sz="2000" dirty="0"/>
              <a:t>→ 等你查完小孩子都長大</a:t>
            </a:r>
            <a:r>
              <a:rPr lang="zh-TW" altLang="en-US" sz="2000" dirty="0" smtClean="0"/>
              <a:t>了</a:t>
            </a:r>
            <a:endParaRPr lang="en-US" altLang="zh-TW" sz="2000" dirty="0" smtClean="0"/>
          </a:p>
          <a:p>
            <a:pPr lvl="1">
              <a:buFont typeface="Consolas" panose="020B0609020204030204" pitchFamily="49" charset="0"/>
              <a:buChar char="♪"/>
            </a:pPr>
            <a:r>
              <a:rPr lang="zh-TW" altLang="en-US" sz="2000" dirty="0" smtClean="0"/>
              <a:t>如果今天只是要知道人口的分佈，其實抽查的實用性會高得多</a:t>
            </a:r>
            <a:endParaRPr lang="en-US" altLang="zh-TW" sz="2000" dirty="0"/>
          </a:p>
          <a:p>
            <a:pPr lvl="1">
              <a:buFont typeface="Consolas" panose="020B0609020204030204" pitchFamily="49" charset="0"/>
              <a:buChar char="♪"/>
            </a:pPr>
            <a:r>
              <a:rPr lang="zh-TW" altLang="en-US" sz="2000" dirty="0"/>
              <a:t>有了讀卡機（最早的電腦）之後，</a:t>
            </a:r>
            <a:r>
              <a:rPr lang="en-US" altLang="zh-TW" sz="2000" dirty="0"/>
              <a:t>6</a:t>
            </a:r>
            <a:r>
              <a:rPr lang="zh-TW" altLang="en-US" sz="2000" dirty="0"/>
              <a:t>周即可統計</a:t>
            </a:r>
            <a:r>
              <a:rPr lang="zh-TW" altLang="en-US" sz="2000" dirty="0" smtClean="0"/>
              <a:t>完成</a:t>
            </a:r>
            <a:endParaRPr lang="en-US" altLang="zh-TW" sz="2000" dirty="0"/>
          </a:p>
          <a:p>
            <a:pPr lvl="1">
              <a:buFont typeface="Consolas" panose="020B0609020204030204" pitchFamily="49" charset="0"/>
              <a:buChar char="♪"/>
            </a:pPr>
            <a:endParaRPr lang="en-US" altLang="zh-TW" sz="2000" dirty="0" smtClean="0"/>
          </a:p>
        </p:txBody>
      </p:sp>
    </p:spTree>
    <p:extLst>
      <p:ext uri="{BB962C8B-B14F-4D97-AF65-F5344CB8AC3E}">
        <p14:creationId xmlns:p14="http://schemas.microsoft.com/office/powerpoint/2010/main" val="415093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怎麼衡量？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/>
              <a:t>實測通常最精準！</a:t>
            </a:r>
            <a:endParaRPr lang="en-US" altLang="zh-TW" sz="2400" dirty="0" smtClean="0"/>
          </a:p>
          <a:p>
            <a:r>
              <a:rPr lang="zh-TW" altLang="en-US" sz="2400" dirty="0" smtClean="0"/>
              <a:t>但，怎麼預測？</a:t>
            </a:r>
            <a:endParaRPr lang="en-US" altLang="zh-TW" sz="2400" dirty="0" smtClean="0"/>
          </a:p>
          <a:p>
            <a:r>
              <a:rPr lang="zh-TW" altLang="en-US" sz="2400" dirty="0" smtClean="0"/>
              <a:t>相容性、開發成本通常仰賴實做方式與實做者評估</a:t>
            </a:r>
            <a:endParaRPr lang="en-US" altLang="zh-TW" sz="2400" dirty="0" smtClean="0"/>
          </a:p>
          <a:p>
            <a:r>
              <a:rPr lang="zh-TW" altLang="en-US" sz="2400" dirty="0" smtClean="0"/>
              <a:t>正確率有很多面向</a:t>
            </a:r>
            <a:endParaRPr lang="en-US" altLang="zh-TW" sz="2400" dirty="0" smtClean="0"/>
          </a:p>
          <a:p>
            <a:pPr lvl="1"/>
            <a:r>
              <a:rPr lang="zh-TW" altLang="en-US" sz="2000" dirty="0"/>
              <a:t>實</a:t>
            </a:r>
            <a:r>
              <a:rPr lang="zh-TW" altLang="en-US" sz="2000" dirty="0" smtClean="0"/>
              <a:t>做細節</a:t>
            </a:r>
            <a:endParaRPr lang="en-US" altLang="zh-TW" sz="2000" dirty="0" smtClean="0"/>
          </a:p>
          <a:p>
            <a:pPr lvl="1"/>
            <a:r>
              <a:rPr lang="en-US" altLang="zh-TW" sz="2000" dirty="0" smtClean="0"/>
              <a:t>Case </a:t>
            </a:r>
            <a:r>
              <a:rPr lang="zh-TW" altLang="en-US" sz="2000" dirty="0" smtClean="0"/>
              <a:t>數量</a:t>
            </a:r>
            <a:endParaRPr lang="en-US" altLang="zh-TW" sz="2000" dirty="0" smtClean="0"/>
          </a:p>
          <a:p>
            <a:pPr lvl="1"/>
            <a:r>
              <a:rPr lang="zh-TW" altLang="en-US" sz="2000" dirty="0"/>
              <a:t>理論</a:t>
            </a:r>
            <a:r>
              <a:rPr lang="zh-TW" altLang="en-US" sz="2000" dirty="0" smtClean="0"/>
              <a:t>分析</a:t>
            </a:r>
            <a:endParaRPr lang="en-US" altLang="zh-TW" sz="2000" dirty="0" smtClean="0"/>
          </a:p>
          <a:p>
            <a:r>
              <a:rPr lang="zh-TW" altLang="en-US" sz="2400" dirty="0"/>
              <a:t>時間、</a:t>
            </a:r>
            <a:r>
              <a:rPr lang="zh-TW" altLang="en-US" sz="2400" dirty="0" smtClean="0"/>
              <a:t>空間？</a:t>
            </a: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243271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一些瓶頸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sz="2400" dirty="0" smtClean="0"/>
                  <a:t>每種操作所需時間略有差異</a:t>
                </a:r>
                <a:endParaRPr lang="en-US" altLang="zh-TW" sz="2400" dirty="0" smtClean="0"/>
              </a:p>
              <a:p>
                <a:pPr lvl="1"/>
                <a:r>
                  <a:rPr lang="en-US" altLang="zh-TW" sz="2000" dirty="0" smtClean="0"/>
                  <a:t>ex. </a:t>
                </a:r>
                <a:r>
                  <a:rPr lang="zh-TW" altLang="en-US" sz="2000" dirty="0" smtClean="0"/>
                  <a:t>除法比加法慢、記憶體存取根據區塊不同也有差異</a:t>
                </a:r>
                <a:endParaRPr lang="en-US" altLang="zh-TW" sz="2000" dirty="0" smtClean="0"/>
              </a:p>
              <a:p>
                <a:r>
                  <a:rPr lang="zh-TW" altLang="en-US" sz="2400" dirty="0"/>
                  <a:t>小時候胖不是</a:t>
                </a:r>
                <a:r>
                  <a:rPr lang="zh-TW" altLang="en-US" sz="2400" dirty="0" smtClean="0"/>
                  <a:t>胖</a:t>
                </a:r>
                <a:endParaRPr lang="en-US" altLang="zh-TW" sz="2400" dirty="0"/>
              </a:p>
              <a:p>
                <a:pPr lvl="1"/>
                <a:r>
                  <a:rPr lang="en-US" altLang="zh-TW" sz="2000" dirty="0" smtClean="0"/>
                  <a:t>ex.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&lt;10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&lt;4</m:t>
                    </m:r>
                  </m:oMath>
                </a14:m>
                <a:endParaRPr lang="en-US" altLang="zh-TW" sz="2000" dirty="0" smtClean="0"/>
              </a:p>
              <a:p>
                <a:pPr lvl="1"/>
                <a:r>
                  <a:rPr lang="zh-TW" altLang="en-US" sz="2000" dirty="0" smtClean="0"/>
                  <a:t>通常輸入規模很小的時候，時間的差異很小！</a:t>
                </a:r>
                <a:endParaRPr lang="en-US" altLang="zh-TW" sz="2000" dirty="0" smtClean="0"/>
              </a:p>
              <a:p>
                <a:pPr lvl="1"/>
                <a:r>
                  <a:rPr lang="zh-TW" altLang="en-US" sz="2000" dirty="0" smtClean="0"/>
                  <a:t>我們</a:t>
                </a:r>
                <a:r>
                  <a:rPr lang="zh-TW" altLang="en-US" sz="2000" dirty="0"/>
                  <a:t>在意</a:t>
                </a:r>
                <a:r>
                  <a:rPr lang="zh-TW" altLang="en-US" sz="2000" dirty="0" smtClean="0"/>
                  <a:t>輸入規模很大的時候的情形</a:t>
                </a:r>
                <a:endParaRPr lang="en-US" altLang="zh-TW" sz="2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754" t="-19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9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複雜度的概念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sz="2400" dirty="0" smtClean="0"/>
                  <a:t>乘法比加法慢，但</a:t>
                </a:r>
                <a:r>
                  <a:rPr lang="en-US" altLang="zh-TW" sz="2400" dirty="0" smtClean="0"/>
                  <a:t>……</a:t>
                </a:r>
              </a:p>
              <a:p>
                <a:pPr lvl="1"/>
                <a:r>
                  <a:rPr lang="zh-TW" altLang="en-US" sz="2000" dirty="0"/>
                  <a:t>老師</a:t>
                </a:r>
                <a:r>
                  <a:rPr lang="zh-TW" altLang="en-US" sz="2000" dirty="0" smtClean="0"/>
                  <a:t>出長期作業，有兩種方案</a:t>
                </a:r>
                <a:endParaRPr lang="en-US" altLang="zh-TW" sz="2000" dirty="0" smtClean="0"/>
              </a:p>
              <a:p>
                <a:pPr marL="1143000" lvl="2" indent="-457200">
                  <a:buFont typeface="+mj-lt"/>
                  <a:buAutoNum type="arabicPeriod"/>
                </a:pPr>
                <a:r>
                  <a:rPr lang="zh-TW" altLang="en-US" sz="1800" dirty="0" smtClean="0"/>
                  <a:t>每天算 </a:t>
                </a:r>
                <a:r>
                  <a:rPr lang="en-US" altLang="zh-TW" sz="1800" dirty="0" smtClean="0"/>
                  <a:t>10 </a:t>
                </a:r>
                <a:r>
                  <a:rPr lang="zh-TW" altLang="en-US" sz="1800" dirty="0"/>
                  <a:t>題</a:t>
                </a:r>
                <a:r>
                  <a:rPr lang="zh-TW" altLang="en-US" sz="1800" dirty="0" smtClean="0"/>
                  <a:t>乘法</a:t>
                </a:r>
                <a:endParaRPr lang="en-US" altLang="zh-TW" sz="1800" dirty="0" smtClean="0"/>
              </a:p>
              <a:p>
                <a:pPr marL="1143000" lvl="2" indent="-457200">
                  <a:buFont typeface="+mj-lt"/>
                  <a:buAutoNum type="arabicPeriod"/>
                </a:pPr>
                <a:r>
                  <a:rPr lang="zh-TW" altLang="en-US" sz="1800" dirty="0" smtClean="0"/>
                  <a:t>第一天算 </a:t>
                </a:r>
                <a:r>
                  <a:rPr lang="en-US" altLang="zh-TW" sz="1800" dirty="0" smtClean="0"/>
                  <a:t>1 </a:t>
                </a:r>
                <a:r>
                  <a:rPr lang="zh-TW" altLang="en-US" sz="1800" dirty="0" smtClean="0"/>
                  <a:t>題加法，第二天算 </a:t>
                </a:r>
                <a:r>
                  <a:rPr lang="en-US" altLang="zh-TW" sz="1800" dirty="0" smtClean="0"/>
                  <a:t>2 </a:t>
                </a:r>
                <a:r>
                  <a:rPr lang="zh-TW" altLang="en-US" sz="1800" dirty="0" smtClean="0"/>
                  <a:t>題加法，第三天算 </a:t>
                </a:r>
                <a:r>
                  <a:rPr lang="en-US" altLang="zh-TW" sz="1800" dirty="0" smtClean="0"/>
                  <a:t>3 </a:t>
                </a:r>
                <a:r>
                  <a:rPr lang="zh-TW" altLang="en-US" sz="1800" dirty="0" smtClean="0"/>
                  <a:t>題加法</a:t>
                </a:r>
                <a:r>
                  <a:rPr lang="en-US" altLang="zh-TW" sz="1800" dirty="0" smtClean="0"/>
                  <a:t>……</a:t>
                </a:r>
              </a:p>
              <a:p>
                <a:pPr marL="622300" lvl="1" indent="-269875">
                  <a:tabLst>
                    <a:tab pos="542925" algn="l"/>
                    <a:tab pos="808038" algn="l"/>
                  </a:tabLst>
                </a:pPr>
                <a:r>
                  <a:rPr lang="zh-TW" altLang="en-US" sz="2000" dirty="0" smtClean="0"/>
                  <a:t>你會選哪一種作業？</a:t>
                </a:r>
                <a:endParaRPr lang="en-US" altLang="zh-TW" sz="2000" dirty="0"/>
              </a:p>
              <a:p>
                <a:pPr marL="622300" lvl="1" indent="-269875">
                  <a:tabLst>
                    <a:tab pos="542925" algn="l"/>
                    <a:tab pos="808038" algn="l"/>
                  </a:tabLst>
                </a:pPr>
                <a:r>
                  <a:rPr lang="zh-TW" altLang="en-US" sz="2000" dirty="0" smtClean="0"/>
                  <a:t>假設算一題加法需要 </a:t>
                </a:r>
                <a:r>
                  <a:rPr lang="en-US" altLang="zh-TW" sz="2000" dirty="0" smtClean="0"/>
                  <a:t>5 </a:t>
                </a:r>
                <a:r>
                  <a:rPr lang="zh-TW" altLang="en-US" sz="2000" dirty="0" smtClean="0"/>
                  <a:t>秒，算一題乘法需要 </a:t>
                </a:r>
                <a:r>
                  <a:rPr lang="en-US" altLang="zh-TW" sz="2000" dirty="0" smtClean="0"/>
                  <a:t>20 </a:t>
                </a:r>
                <a:r>
                  <a:rPr lang="zh-TW" altLang="en-US" sz="2000" dirty="0" smtClean="0"/>
                  <a:t>秒</a:t>
                </a:r>
                <a:endParaRPr lang="en-US" altLang="zh-TW" sz="2000" dirty="0" smtClean="0"/>
              </a:p>
              <a:p>
                <a:pPr marL="852487" lvl="2" indent="-269875">
                  <a:tabLst>
                    <a:tab pos="542925" algn="l"/>
                    <a:tab pos="808038" algn="l"/>
                  </a:tabLst>
                </a:pPr>
                <a:r>
                  <a:rPr lang="zh-TW" altLang="en-US" sz="1800" dirty="0" smtClean="0"/>
                  <a:t>到了第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1800" dirty="0" smtClean="0"/>
                  <a:t> </a:t>
                </a:r>
                <a:r>
                  <a:rPr lang="zh-TW" altLang="en-US" sz="1800" dirty="0" smtClean="0"/>
                  <a:t>天，方案 </a:t>
                </a:r>
                <a:r>
                  <a:rPr lang="en-US" altLang="zh-TW" sz="1800" dirty="0" smtClean="0"/>
                  <a:t>1 </a:t>
                </a:r>
                <a:r>
                  <a:rPr lang="zh-TW" altLang="en-US" sz="1800" dirty="0" smtClean="0"/>
                  <a:t>花了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10∗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∗20 =200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1800" dirty="0" smtClean="0"/>
                  <a:t> </a:t>
                </a:r>
                <a:r>
                  <a:rPr lang="zh-TW" altLang="en-US" sz="1800" dirty="0" smtClean="0"/>
                  <a:t>的時間寫作業</a:t>
                </a:r>
                <a:endParaRPr lang="en-US" altLang="zh-TW" sz="1800" dirty="0" smtClean="0"/>
              </a:p>
              <a:p>
                <a:pPr marL="852487" lvl="2" indent="-269875">
                  <a:tabLst>
                    <a:tab pos="542925" algn="l"/>
                    <a:tab pos="808038" algn="l"/>
                  </a:tabLst>
                </a:pPr>
                <a:r>
                  <a:rPr lang="zh-TW" altLang="en-US" sz="1800" dirty="0" smtClean="0"/>
                  <a:t>到了第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1800" dirty="0" smtClean="0"/>
                  <a:t> </a:t>
                </a:r>
                <a:r>
                  <a:rPr lang="zh-TW" altLang="en-US" sz="1800" dirty="0" smtClean="0"/>
                  <a:t>天，方案 </a:t>
                </a:r>
                <a:r>
                  <a:rPr lang="en-US" altLang="zh-TW" sz="1800" dirty="0" smtClean="0"/>
                  <a:t>2 </a:t>
                </a:r>
                <a:r>
                  <a:rPr lang="zh-TW" altLang="en-US" sz="1800" dirty="0" smtClean="0"/>
                  <a:t>花了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+1)∗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/2∗5 = 2.5(</m:t>
                    </m:r>
                    <m:sSup>
                      <m:sSup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18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1800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1800" dirty="0" smtClean="0"/>
                  <a:t> </a:t>
                </a:r>
                <a:r>
                  <a:rPr lang="zh-TW" altLang="en-US" sz="1800" dirty="0" smtClean="0"/>
                  <a:t>的時間寫作業</a:t>
                </a:r>
                <a:endParaRPr lang="en-US" altLang="zh-TW" sz="1800" dirty="0" smtClean="0"/>
              </a:p>
              <a:p>
                <a:pPr marL="852487" lvl="2" indent="-269875">
                  <a:tabLst>
                    <a:tab pos="542925" algn="l"/>
                    <a:tab pos="808038" algn="l"/>
                  </a:tabLst>
                </a:pPr>
                <a:r>
                  <a:rPr lang="zh-TW" altLang="en-US" sz="1800" dirty="0" smtClean="0"/>
                  <a:t>如果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1800" dirty="0" smtClean="0"/>
                  <a:t> 很小，例如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TW" altLang="en-US" sz="1800" dirty="0" smtClean="0"/>
                  <a:t>，那麼方案 </a:t>
                </a:r>
                <a:r>
                  <a:rPr lang="en-US" altLang="zh-TW" sz="1800" dirty="0" smtClean="0"/>
                  <a:t>2 </a:t>
                </a:r>
                <a:r>
                  <a:rPr lang="zh-TW" altLang="en-US" sz="1800" dirty="0" smtClean="0"/>
                  <a:t>比較好</a:t>
                </a:r>
                <a:endParaRPr lang="en-US" altLang="zh-TW" sz="1800" dirty="0" smtClean="0"/>
              </a:p>
              <a:p>
                <a:pPr marL="852487" lvl="2" indent="-269875">
                  <a:tabLst>
                    <a:tab pos="542925" algn="l"/>
                    <a:tab pos="808038" algn="l"/>
                  </a:tabLst>
                </a:pPr>
                <a:r>
                  <a:rPr lang="zh-TW" altLang="en-US" sz="1800" dirty="0"/>
                  <a:t>如果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1800" dirty="0"/>
                  <a:t> </a:t>
                </a:r>
                <a:r>
                  <a:rPr lang="zh-TW" altLang="en-US" sz="1800" dirty="0"/>
                  <a:t>很大</a:t>
                </a:r>
                <a:r>
                  <a:rPr lang="zh-TW" altLang="en-US" sz="1800" dirty="0" smtClean="0"/>
                  <a:t>，例如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 = 365</m:t>
                    </m:r>
                  </m:oMath>
                </a14:m>
                <a:r>
                  <a:rPr lang="en-US" altLang="zh-TW" sz="1800" dirty="0" smtClean="0"/>
                  <a:t> </a:t>
                </a:r>
                <a:r>
                  <a:rPr lang="zh-TW" altLang="en-US" sz="1800" dirty="0" smtClean="0"/>
                  <a:t>呢？</a:t>
                </a:r>
                <a:endParaRPr lang="en-US" altLang="zh-TW" sz="1800" dirty="0" smtClean="0"/>
              </a:p>
              <a:p>
                <a:pPr marL="695325" lvl="1" indent="-342900">
                  <a:buFont typeface="Consolas" panose="020B0609020204030204" pitchFamily="49" charset="0"/>
                  <a:buChar char="→"/>
                  <a:tabLst>
                    <a:tab pos="542925" algn="l"/>
                    <a:tab pos="808038" algn="l"/>
                  </a:tabLst>
                </a:pPr>
                <a:r>
                  <a:rPr lang="zh-TW" altLang="en-US" sz="2000" dirty="0" smtClean="0"/>
                  <a:t>方案 </a:t>
                </a:r>
                <a:r>
                  <a:rPr lang="en-US" altLang="zh-TW" sz="2000" dirty="0" smtClean="0"/>
                  <a:t>2 </a:t>
                </a:r>
                <a:r>
                  <a:rPr lang="zh-TW" altLang="en-US" sz="2000" dirty="0"/>
                  <a:t>需要的</a:t>
                </a:r>
                <a:r>
                  <a:rPr lang="zh-TW" altLang="en-US" sz="2000" dirty="0" smtClean="0"/>
                  <a:t>操作數的「量級」比較多 </a:t>
                </a:r>
                <a:r>
                  <a:rPr lang="en-US" altLang="zh-TW" sz="2000" dirty="0" smtClean="0"/>
                  <a:t>(</a:t>
                </a:r>
                <a:r>
                  <a:rPr lang="zh-TW" altLang="en-US" sz="2000" dirty="0" smtClean="0"/>
                  <a:t>複雜</a:t>
                </a:r>
                <a:r>
                  <a:rPr lang="en-US" altLang="zh-TW" sz="2000" dirty="0" smtClean="0"/>
                  <a:t>)</a:t>
                </a:r>
                <a:r>
                  <a:rPr lang="zh-TW" altLang="en-US" sz="2000" dirty="0" smtClean="0"/>
                  <a:t>，所以長期作業應該選方案 </a:t>
                </a:r>
                <a:r>
                  <a:rPr lang="en-US" altLang="zh-TW" sz="2000" dirty="0" smtClean="0"/>
                  <a:t>1 </a:t>
                </a:r>
                <a:r>
                  <a:rPr lang="zh-TW" altLang="en-US" sz="2000" dirty="0" smtClean="0"/>
                  <a:t>比較輕鬆</a:t>
                </a:r>
                <a:endParaRPr lang="en-US" altLang="zh-TW" sz="2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4"/>
                <a:stretch>
                  <a:fillRect l="-754" t="-19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941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量級？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104900" y="1587230"/>
                <a:ext cx="10515600" cy="5270770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sz="2400" dirty="0" smtClean="0"/>
                  <a:t>以動物為例</a:t>
                </a:r>
                <a:r>
                  <a:rPr lang="en-US" altLang="zh-TW" sz="2400" dirty="0" smtClean="0"/>
                  <a:t>……</a:t>
                </a:r>
              </a:p>
              <a:p>
                <a:r>
                  <a:rPr lang="zh-TW" altLang="en-US" sz="2400" dirty="0" smtClean="0"/>
                  <a:t>簡單來說，他們「成長」的速度是不同等級的！</a:t>
                </a:r>
                <a:endParaRPr lang="en-US" altLang="zh-TW" sz="2400" dirty="0" smtClean="0"/>
              </a:p>
              <a:p>
                <a:r>
                  <a:rPr lang="zh-TW" altLang="en-US" sz="2400" dirty="0" smtClean="0"/>
                  <a:t>極限的概念 </a:t>
                </a:r>
                <a:r>
                  <a:rPr lang="en-US" altLang="zh-TW" sz="2400" dirty="0" smtClean="0"/>
                  <a:t>1</a:t>
                </a:r>
              </a:p>
              <a:p>
                <a:pPr lvl="1"/>
                <a:r>
                  <a:rPr lang="zh-TW" altLang="en-US" sz="2000" dirty="0" smtClean="0"/>
                  <a:t>對於兩個函數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 smtClean="0"/>
                  <a:t> 與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 smtClean="0"/>
                  <a:t>，當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000" dirty="0" smtClean="0"/>
                  <a:t> </a:t>
                </a:r>
                <a:r>
                  <a:rPr lang="zh-TW" altLang="en-US" sz="2000" dirty="0" smtClean="0"/>
                  <a:t>趨近於無窮大，誰會比較大？</a:t>
                </a:r>
                <a:endParaRPr lang="en-US" altLang="zh-TW" sz="2000" dirty="0" smtClean="0"/>
              </a:p>
              <a:p>
                <a:r>
                  <a:rPr lang="zh-TW" altLang="en-US" sz="2400" dirty="0" smtClean="0"/>
                  <a:t>超級比一比：</a:t>
                </a:r>
                <a:endParaRPr lang="en-US" altLang="zh-TW" sz="24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vs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TW" sz="2000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vs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TW" sz="2000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vs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nlog</m:t>
                        </m:r>
                      </m:fName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altLang="zh-TW" sz="2000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vs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altLang="zh-TW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30∗</m:t>
                    </m:r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vs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TW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000" dirty="0" smtClean="0"/>
                  <a:t> vs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TW" sz="2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900" y="1587230"/>
                <a:ext cx="10515600" cy="5270770"/>
              </a:xfrm>
              <a:blipFill rotWithShape="0">
                <a:blip r:embed="rId5"/>
                <a:stretch>
                  <a:fillRect l="-754" t="-17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32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𝑣𝑠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200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TW" altLang="en-US" dirty="0" smtClean="0"/>
                  <a:t>？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sz="2400" dirty="0" smtClean="0"/>
                  <a:t>極限的概念 </a:t>
                </a:r>
                <a:r>
                  <a:rPr lang="en-US" altLang="zh-TW" sz="2400" dirty="0"/>
                  <a:t>2</a:t>
                </a:r>
              </a:p>
              <a:p>
                <a:pPr lvl="1"/>
                <a:r>
                  <a:rPr lang="zh-TW" altLang="en-US" sz="2000" dirty="0" smtClean="0"/>
                  <a:t>如果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zh-TW" altLang="en-US" sz="2000" dirty="0" smtClean="0"/>
                  <a:t> 在</a:t>
                </a:r>
                <a14:m>
                  <m:oMath xmlns:m="http://schemas.openxmlformats.org/officeDocument/2006/math">
                    <m: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TW" altLang="en-US" sz="2000" dirty="0" smtClean="0"/>
                  <a:t> 趨近於無限大時趨近於 </a:t>
                </a:r>
                <a:r>
                  <a:rPr lang="en-US" altLang="zh-TW" sz="2000" dirty="0" smtClean="0"/>
                  <a:t>0</a:t>
                </a:r>
                <a:r>
                  <a:rPr lang="zh-TW" altLang="en-US" sz="2000" dirty="0" smtClean="0"/>
                  <a:t>，那麼我們說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 smtClean="0"/>
                  <a:t> </a:t>
                </a:r>
                <a:r>
                  <a:rPr lang="zh-TW" altLang="en-US" sz="2000" dirty="0" smtClean="0"/>
                  <a:t>比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 smtClean="0"/>
                  <a:t> </a:t>
                </a:r>
                <a:r>
                  <a:rPr lang="zh-TW" altLang="en-US" sz="2000" dirty="0" smtClean="0"/>
                  <a:t>小</a:t>
                </a:r>
                <a:endParaRPr lang="en-US" altLang="zh-TW" sz="2000" dirty="0" smtClean="0"/>
              </a:p>
              <a:p>
                <a:pPr lvl="1"/>
                <a:r>
                  <a:rPr lang="zh-TW" altLang="en-US" sz="2000" i="0" dirty="0" smtClean="0">
                    <a:latin typeface="+mj-lt"/>
                  </a:rPr>
                  <a:t>如果 </a:t>
                </a:r>
                <a14:m>
                  <m:oMath xmlns:m="http://schemas.openxmlformats.org/officeDocument/2006/math">
                    <m: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2000" i="0" dirty="0" smtClean="0">
                    <a:latin typeface="+mj-lt"/>
                  </a:rPr>
                  <a:t>  在</a:t>
                </a:r>
                <a14:m>
                  <m:oMath xmlns:m="http://schemas.openxmlformats.org/officeDocument/2006/math"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TW" altLang="en-US" sz="2000" i="0" dirty="0" smtClean="0">
                    <a:latin typeface="+mj-lt"/>
                  </a:rPr>
                  <a:t>  趨近於無限大時趨近於無限大，那麼我們說</a:t>
                </a:r>
                <a14:m>
                  <m:oMath xmlns:m="http://schemas.openxmlformats.org/officeDocument/2006/math"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TW" altLang="en-US" sz="2000" i="0" dirty="0" smtClean="0">
                    <a:latin typeface="+mj-lt"/>
                  </a:rPr>
                  <a:t>比</a:t>
                </a:r>
                <a14:m>
                  <m:oMath xmlns:m="http://schemas.openxmlformats.org/officeDocument/2006/math"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TW" altLang="en-US" sz="2000" dirty="0" smtClean="0"/>
                  <a:t>大</a:t>
                </a:r>
                <a:endParaRPr lang="en-US" altLang="zh-TW" sz="2000" dirty="0" smtClean="0"/>
              </a:p>
              <a:p>
                <a:pPr lvl="1"/>
                <a:r>
                  <a:rPr lang="zh-TW" altLang="en-US" sz="2000" dirty="0"/>
                  <a:t>否則我們</a:t>
                </a:r>
                <a:r>
                  <a:rPr lang="zh-TW" altLang="en-US" sz="2000" dirty="0" smtClean="0"/>
                  <a:t>說兩者一樣量級</a:t>
                </a:r>
                <a:endParaRPr lang="en-US" altLang="zh-TW" sz="2000" dirty="0" smtClean="0"/>
              </a:p>
              <a:p>
                <a:r>
                  <a:rPr lang="zh-TW" altLang="en-US" sz="2400" i="0" dirty="0" smtClean="0">
                    <a:latin typeface="+mj-lt"/>
                  </a:rPr>
                  <a:t>再次超級比一比</a:t>
                </a:r>
                <a:endParaRPr lang="en-US" altLang="zh-TW" sz="2400" i="0" dirty="0" smtClean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/>
                  <a:t>vs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TW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vs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TW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vs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nlog</m:t>
                        </m:r>
                      </m:fName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altLang="zh-TW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vs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altLang="zh-TW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30∗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vs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TW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000" dirty="0"/>
                  <a:t> vs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TW" sz="2000" dirty="0"/>
              </a:p>
              <a:p>
                <a:r>
                  <a:rPr lang="zh-TW" altLang="en-US" sz="2400" dirty="0"/>
                  <a:t>量級的實務意義：科技的進步到底有沒有辦法彌補兩者的差異？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754" t="-1974" b="-9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441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常見量級比較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在一台每秒可進行</a:t>
            </a:r>
            <a:r>
              <a:rPr lang="en-US" altLang="zh-TW" sz="2400" dirty="0"/>
              <a:t>10</a:t>
            </a:r>
            <a:r>
              <a:rPr lang="zh-TW" altLang="en-US" sz="2400" dirty="0"/>
              <a:t>億次運算的電腦上</a:t>
            </a:r>
            <a:r>
              <a:rPr lang="zh-TW" altLang="en-US" sz="2400" dirty="0" smtClean="0"/>
              <a:t>的話</a:t>
            </a:r>
            <a:r>
              <a:rPr lang="en-US" altLang="zh-TW" sz="2400" dirty="0" smtClean="0"/>
              <a:t>……</a:t>
            </a:r>
          </a:p>
          <a:p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051053"/>
            <a:ext cx="6837103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4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複雜度的概念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104900" y="1587230"/>
                <a:ext cx="10515600" cy="4813570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sz="2400" dirty="0" smtClean="0"/>
                  <a:t>我們假設所有的操作都需要花費一樣的時間！包括</a:t>
                </a:r>
                <a:endParaRPr lang="en-US" altLang="zh-TW" sz="2400" dirty="0" smtClean="0"/>
              </a:p>
              <a:p>
                <a:pPr lvl="1"/>
                <a:r>
                  <a:rPr lang="zh-TW" altLang="en-US" sz="2000" dirty="0" smtClean="0"/>
                  <a:t>加減乘除</a:t>
                </a:r>
                <a:endParaRPr lang="en-US" altLang="zh-TW" sz="2000" dirty="0" smtClean="0"/>
              </a:p>
              <a:p>
                <a:pPr lvl="1"/>
                <a:r>
                  <a:rPr lang="zh-TW" altLang="en-US" sz="2000" dirty="0"/>
                  <a:t>取</a:t>
                </a:r>
                <a:r>
                  <a:rPr lang="zh-TW" altLang="en-US" sz="2000" dirty="0" smtClean="0"/>
                  <a:t>餘數</a:t>
                </a:r>
                <a:endParaRPr lang="en-US" altLang="zh-TW" sz="2000" dirty="0" smtClean="0"/>
              </a:p>
              <a:p>
                <a:pPr lvl="1"/>
                <a:r>
                  <a:rPr lang="zh-TW" altLang="en-US" sz="2000" dirty="0"/>
                  <a:t>位</a:t>
                </a:r>
                <a:r>
                  <a:rPr lang="zh-TW" altLang="en-US" sz="2000" dirty="0" smtClean="0"/>
                  <a:t>運算</a:t>
                </a:r>
                <a:endParaRPr lang="en-US" altLang="zh-TW" sz="2000" dirty="0"/>
              </a:p>
              <a:p>
                <a:pPr lvl="1"/>
                <a:r>
                  <a:rPr lang="zh-TW" altLang="en-US" sz="2000" dirty="0" smtClean="0"/>
                  <a:t>存取記憶體</a:t>
                </a:r>
                <a:endParaRPr lang="en-US" altLang="zh-TW" sz="2000" dirty="0" smtClean="0"/>
              </a:p>
              <a:p>
                <a:pPr lvl="1"/>
                <a:r>
                  <a:rPr lang="zh-TW" altLang="en-US" sz="2000" dirty="0"/>
                  <a:t>判斷</a:t>
                </a:r>
                <a:r>
                  <a:rPr lang="zh-TW" altLang="en-US" sz="2000" dirty="0" smtClean="0"/>
                  <a:t>運算子</a:t>
                </a:r>
                <a:endParaRPr lang="en-US" altLang="zh-TW" sz="2000" dirty="0" smtClean="0"/>
              </a:p>
              <a:p>
                <a:pPr lvl="1"/>
                <a:r>
                  <a:rPr lang="zh-TW" altLang="en-US" sz="2000" dirty="0"/>
                  <a:t>賦值</a:t>
                </a:r>
                <a:r>
                  <a:rPr lang="zh-TW" altLang="en-US" sz="2000" dirty="0" smtClean="0"/>
                  <a:t>運算子</a:t>
                </a:r>
                <a:endParaRPr lang="en-US" altLang="zh-TW" sz="2000" dirty="0"/>
              </a:p>
              <a:p>
                <a:pPr lvl="1"/>
                <a:r>
                  <a:rPr lang="en-US" altLang="zh-TW" sz="2000" dirty="0" smtClean="0"/>
                  <a:t>……</a:t>
                </a:r>
              </a:p>
              <a:p>
                <a:r>
                  <a:rPr lang="zh-TW" altLang="en-US" sz="2400" dirty="0" smtClean="0"/>
                  <a:t>把所有操作需要的「次數」都計算出來</a:t>
                </a:r>
                <a:endParaRPr lang="en-US" altLang="zh-TW" sz="2400" dirty="0" smtClean="0"/>
              </a:p>
              <a:p>
                <a:r>
                  <a:rPr lang="zh-TW" altLang="en-US" sz="2400" dirty="0" smtClean="0"/>
                  <a:t>看看量</a:t>
                </a:r>
                <a:r>
                  <a:rPr lang="zh-TW" altLang="en-US" sz="2400" dirty="0"/>
                  <a:t>級的</a:t>
                </a:r>
                <a:r>
                  <a:rPr lang="zh-TW" altLang="en-US" sz="2400" dirty="0" smtClean="0"/>
                  <a:t>大小 </a:t>
                </a:r>
                <a:r>
                  <a:rPr lang="en-US" altLang="zh-TW" sz="2400" dirty="0" smtClean="0"/>
                  <a:t>(</a:t>
                </a:r>
                <a:r>
                  <a:rPr lang="zh-TW" altLang="en-US" sz="2400" dirty="0" smtClean="0"/>
                  <a:t>複雜度</a:t>
                </a:r>
                <a:r>
                  <a:rPr lang="en-US" altLang="zh-TW" sz="2400" dirty="0" smtClean="0"/>
                  <a:t>)</a:t>
                </a:r>
                <a:r>
                  <a:rPr lang="zh-TW" altLang="en-US" sz="2400" dirty="0" smtClean="0"/>
                  <a:t>，並且評估執行時間</a:t>
                </a:r>
                <a:endParaRPr lang="en-US" altLang="zh-TW" sz="2400" dirty="0" smtClean="0"/>
              </a:p>
              <a:p>
                <a:pPr lvl="1"/>
                <a:r>
                  <a:rPr lang="en-US" altLang="zh-TW" sz="2000" dirty="0" smtClean="0"/>
                  <a:t>ex.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r>
                  <a:rPr lang="zh-TW" altLang="en-US" sz="2000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=2000</m:t>
                    </m:r>
                  </m:oMath>
                </a14:m>
                <a:r>
                  <a:rPr lang="zh-TW" altLang="en-US" sz="2000" dirty="0" smtClean="0"/>
                  <a:t>，運行時間應該是 </a:t>
                </a:r>
                <a:r>
                  <a:rPr lang="en-US" altLang="zh-TW" sz="2000" dirty="0" smtClean="0"/>
                  <a:t>12004007 </a:t>
                </a:r>
                <a:r>
                  <a:rPr lang="zh-TW" altLang="en-US" sz="2000" dirty="0" smtClean="0"/>
                  <a:t>的常數倍</a:t>
                </a:r>
                <a:endParaRPr lang="en-US" altLang="zh-TW" sz="2000" dirty="0" smtClean="0"/>
              </a:p>
              <a:p>
                <a:r>
                  <a:rPr lang="zh-TW" altLang="en-US" sz="2400" dirty="0"/>
                  <a:t>目前</a:t>
                </a:r>
                <a:r>
                  <a:rPr lang="zh-TW" altLang="en-US" sz="2400" dirty="0" smtClean="0"/>
                  <a:t>計算機</a:t>
                </a:r>
                <a:r>
                  <a:rPr lang="zh-TW" altLang="en-US" sz="2400" dirty="0"/>
                  <a:t>的運算</a:t>
                </a:r>
                <a:r>
                  <a:rPr lang="zh-TW" altLang="en-US" sz="2400" dirty="0" smtClean="0"/>
                  <a:t>速度約為每秒 </a:t>
                </a:r>
                <a:r>
                  <a:rPr lang="en-US" altLang="zh-TW" sz="2400" dirty="0" smtClean="0"/>
                  <a:t>2000 </a:t>
                </a:r>
                <a:r>
                  <a:rPr lang="zh-TW" altLang="en-US" sz="2400" dirty="0" smtClean="0"/>
                  <a:t>萬</a:t>
                </a:r>
                <a:r>
                  <a:rPr lang="en-US" altLang="zh-TW" sz="2400" dirty="0" smtClean="0"/>
                  <a:t>~8000 </a:t>
                </a:r>
                <a:r>
                  <a:rPr lang="zh-TW" altLang="en-US" sz="2400" dirty="0" smtClean="0"/>
                  <a:t>萬次運算</a:t>
                </a:r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900" y="1587230"/>
                <a:ext cx="10515600" cy="4813570"/>
              </a:xfrm>
              <a:blipFill rotWithShape="0">
                <a:blip r:embed="rId2"/>
                <a:stretch>
                  <a:fillRect l="-754" t="-18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304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一些符號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sz="2400" dirty="0" smtClean="0"/>
                  <a:t>每次都要列出式子，很麻煩</a:t>
                </a:r>
                <a:endParaRPr lang="en-US" altLang="zh-TW" sz="2400" dirty="0" smtClean="0"/>
              </a:p>
              <a:p>
                <a:r>
                  <a:rPr lang="zh-TW" altLang="en-US" sz="2400" dirty="0" smtClean="0"/>
                  <a:t>常數其實不重要！</a:t>
                </a:r>
                <a:endParaRPr lang="en-US" altLang="zh-TW" sz="2400" dirty="0" smtClean="0"/>
              </a:p>
              <a:p>
                <a:r>
                  <a:rPr lang="zh-TW" altLang="en-US" sz="2400" dirty="0" smtClean="0"/>
                  <a:t>大歐符號 </a:t>
                </a:r>
                <a:r>
                  <a:rPr lang="en-US" altLang="zh-TW" sz="2400" dirty="0" smtClean="0"/>
                  <a:t>(Big-O)</a:t>
                </a:r>
              </a:p>
              <a:p>
                <a:pPr lvl="1"/>
                <a:r>
                  <a:rPr lang="zh-TW" altLang="en-US" sz="2000" dirty="0"/>
                  <a:t>記</a:t>
                </a:r>
                <a:r>
                  <a:rPr lang="zh-TW" altLang="en-US" sz="2000" dirty="0" smtClean="0"/>
                  <a:t>為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altLang="zh-TW" sz="2000" dirty="0" smtClean="0"/>
              </a:p>
              <a:p>
                <a:pPr lvl="1"/>
                <a:r>
                  <a:rPr lang="zh-TW" altLang="en-US" sz="2000" dirty="0" smtClean="0"/>
                  <a:t>其中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 smtClean="0"/>
                  <a:t> </a:t>
                </a:r>
                <a:r>
                  <a:rPr lang="zh-TW" altLang="en-US" sz="2000" dirty="0" smtClean="0"/>
                  <a:t>是複雜度量級的上界</a:t>
                </a:r>
                <a:endParaRPr lang="en-US" altLang="zh-TW" sz="2000" dirty="0"/>
              </a:p>
              <a:p>
                <a:pPr lvl="1"/>
                <a:r>
                  <a:rPr lang="zh-TW" altLang="en-US" sz="2000" dirty="0" smtClean="0"/>
                  <a:t>假設實際運行的時間為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 smtClean="0"/>
                  <a:t>，那麼在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000" dirty="0" smtClean="0"/>
                  <a:t> </a:t>
                </a:r>
                <a:r>
                  <a:rPr lang="zh-TW" altLang="en-US" sz="2000" dirty="0" smtClean="0"/>
                  <a:t>趨近於無限大時，有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TW" sz="2000" dirty="0" smtClean="0"/>
                  <a:t> </a:t>
                </a:r>
                <a:r>
                  <a:rPr lang="zh-TW" altLang="en-US" sz="2000" dirty="0" smtClean="0"/>
                  <a:t>趨近於某常數或者</a:t>
                </a:r>
                <a14:m>
                  <m:oMath xmlns:m="http://schemas.openxmlformats.org/officeDocument/2006/math">
                    <m: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TW" sz="2000" dirty="0" smtClean="0"/>
                  <a:t> </a:t>
                </a:r>
                <a:r>
                  <a:rPr lang="zh-TW" altLang="en-US" sz="2000" dirty="0" smtClean="0"/>
                  <a:t>趨近於無限大</a:t>
                </a:r>
                <a:endParaRPr lang="en-US" altLang="zh-TW" sz="2000" dirty="0" smtClean="0"/>
              </a:p>
              <a:p>
                <a:pPr lvl="1"/>
                <a:r>
                  <a:rPr lang="en-US" altLang="zh-TW" sz="2000" dirty="0" smtClean="0"/>
                  <a:t>ex.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+3∊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 smtClean="0"/>
              </a:p>
              <a:p>
                <a:pPr lvl="1"/>
                <a:r>
                  <a:rPr lang="en-US" altLang="zh-TW" sz="2000" dirty="0" smtClean="0"/>
                  <a:t>ex.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∊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zh-TW" altLang="en-US" sz="2000" b="0" i="1" smtClean="0">
                        <a:latin typeface="Cambria Math" panose="02040503050406030204" pitchFamily="18" charset="0"/>
                      </a:rPr>
                      <m:t>，則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)∊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 smtClean="0"/>
              </a:p>
              <a:p>
                <a:pPr lvl="1"/>
                <a:r>
                  <a:rPr lang="en-US" altLang="zh-TW" sz="2000" dirty="0" smtClean="0"/>
                  <a:t>ex.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1000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∊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zh-TW" sz="2000" dirty="0" smtClean="0"/>
              </a:p>
              <a:p>
                <a:pPr lvl="1"/>
                <a:r>
                  <a:rPr lang="zh-TW" altLang="en-US" sz="2000" dirty="0" smtClean="0"/>
                  <a:t>通常會取最緊的上界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1974" r="-2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213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練習時間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vs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TW" sz="2400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0" dirty="0" smtClean="0"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US" altLang="zh-TW" sz="2000" dirty="0" smtClean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 smtClean="0"/>
                  <a:t> vs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vs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TW" sz="2400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 smtClean="0"/>
                  <a:t> vs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0" dirty="0" smtClean="0"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US" altLang="zh-TW" sz="2000" dirty="0" smtClean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vs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nlog</m:t>
                        </m:r>
                      </m:fName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altLang="zh-TW" sz="2400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 smtClean="0"/>
                  <a:t> vs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nlog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zh-TW" sz="20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vs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altLang="zh-TW" sz="2400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 smtClean="0"/>
                  <a:t> vs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!)</m:t>
                    </m:r>
                  </m:oMath>
                </a14:m>
                <a:endParaRPr lang="en-US" altLang="zh-TW" sz="2000" dirty="0"/>
              </a:p>
              <a:p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30∗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vs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TW" sz="2400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 smtClean="0"/>
                  <a:t> vs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dirty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/>
              </a:p>
              <a:p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/>
                  <a:t> vs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TW" sz="24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vs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1842" b="-1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18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其他符號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104900" y="1587230"/>
                <a:ext cx="10515600" cy="4851670"/>
              </a:xfrm>
            </p:spPr>
            <p:txBody>
              <a:bodyPr/>
              <a:lstStyle/>
              <a:p>
                <a:r>
                  <a:rPr lang="zh-TW" altLang="en-US" sz="2400" dirty="0" smtClean="0"/>
                  <a:t>小歐符號 </a:t>
                </a:r>
                <a:r>
                  <a:rPr lang="en-US" altLang="zh-TW" sz="2400" dirty="0" smtClean="0"/>
                  <a:t>(Little-o)</a:t>
                </a:r>
              </a:p>
              <a:p>
                <a:pPr lvl="1"/>
                <a:r>
                  <a:rPr lang="zh-TW" altLang="en-US" sz="2000" dirty="0"/>
                  <a:t>記</a:t>
                </a:r>
                <a:r>
                  <a:rPr lang="zh-TW" altLang="en-US" sz="2000" dirty="0" smtClean="0"/>
                  <a:t>為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 smtClean="0"/>
              </a:p>
              <a:p>
                <a:pPr lvl="1"/>
                <a:r>
                  <a:rPr lang="zh-TW" altLang="en-US" sz="2000" dirty="0" smtClean="0"/>
                  <a:t>其中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 smtClean="0"/>
                  <a:t> 為複雜度量級的</a:t>
                </a:r>
                <a:r>
                  <a:rPr lang="zh-TW" altLang="en-US" sz="2000" b="1" dirty="0" smtClean="0"/>
                  <a:t>嚴格</a:t>
                </a:r>
                <a:r>
                  <a:rPr lang="zh-TW" altLang="en-US" sz="2000" dirty="0" smtClean="0"/>
                  <a:t>上界</a:t>
                </a:r>
                <a:endParaRPr lang="en-US" altLang="zh-TW" sz="2000" dirty="0" smtClean="0"/>
              </a:p>
              <a:p>
                <a:pPr lvl="1"/>
                <a:r>
                  <a:rPr lang="zh-TW" altLang="en-US" sz="2000" dirty="0"/>
                  <a:t>假設實際運行的時間為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/>
                  <a:t>，那麼在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000" dirty="0"/>
                  <a:t> </a:t>
                </a:r>
                <a:r>
                  <a:rPr lang="zh-TW" altLang="en-US" sz="2000" dirty="0"/>
                  <a:t>趨近於無限大時，</a:t>
                </a:r>
                <a14:m>
                  <m:oMath xmlns:m="http://schemas.openxmlformats.org/officeDocument/2006/math">
                    <m:r>
                      <a:rPr lang="en-US" altLang="zh-TW" sz="2000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TW" sz="2000" dirty="0"/>
                  <a:t> </a:t>
                </a:r>
                <a:r>
                  <a:rPr lang="zh-TW" altLang="en-US" sz="2000" dirty="0"/>
                  <a:t>趨近於無限大</a:t>
                </a:r>
                <a:endParaRPr lang="en-US" altLang="zh-TW" sz="2000" dirty="0"/>
              </a:p>
              <a:p>
                <a:pPr lvl="1"/>
                <a:r>
                  <a:rPr lang="en-US" altLang="zh-TW" sz="2000" dirty="0"/>
                  <a:t>ex.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+3∉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 smtClean="0"/>
              </a:p>
              <a:p>
                <a:pPr lvl="1"/>
                <a:r>
                  <a:rPr lang="en-US" altLang="zh-TW" sz="2000" dirty="0"/>
                  <a:t>ex.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+3∊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/>
              </a:p>
              <a:p>
                <a:pPr lvl="1"/>
                <a:r>
                  <a:rPr lang="en-US" altLang="zh-TW" sz="2000" dirty="0"/>
                  <a:t>ex.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∊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zh-TW" altLang="en-US" sz="2000" i="1">
                        <a:latin typeface="Cambria Math" panose="02040503050406030204" pitchFamily="18" charset="0"/>
                      </a:rPr>
                      <m:t>，則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)∊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 smtClean="0"/>
              </a:p>
              <a:p>
                <a:pPr lvl="1"/>
                <a:endParaRPr lang="en-US" altLang="zh-TW" sz="2000" dirty="0"/>
              </a:p>
              <a:p>
                <a:pPr lvl="1"/>
                <a:endParaRPr lang="en-US" altLang="zh-TW" sz="2000" dirty="0" smtClean="0"/>
              </a:p>
              <a:p>
                <a:endParaRPr lang="en-US" altLang="zh-TW" dirty="0"/>
              </a:p>
              <a:p>
                <a:pPr marL="342900" lvl="1" indent="0">
                  <a:buNone/>
                </a:pPr>
                <a:endParaRPr lang="en-US" altLang="zh-TW" dirty="0"/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900" y="1587230"/>
                <a:ext cx="10515600" cy="4851670"/>
              </a:xfrm>
              <a:blipFill rotWithShape="0">
                <a:blip r:embed="rId2"/>
                <a:stretch>
                  <a:fillRect l="-754" t="-18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89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其他符號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104900" y="1587230"/>
                <a:ext cx="10515600" cy="4851670"/>
              </a:xfrm>
            </p:spPr>
            <p:txBody>
              <a:bodyPr/>
              <a:lstStyle/>
              <a:p>
                <a:r>
                  <a:rPr lang="en-US" altLang="zh-TW" sz="2400" dirty="0" smtClean="0"/>
                  <a:t>Big-omega</a:t>
                </a:r>
              </a:p>
              <a:p>
                <a:pPr lvl="1"/>
                <a:r>
                  <a:rPr lang="zh-TW" altLang="en-US" sz="2000" dirty="0"/>
                  <a:t>記為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/>
              </a:p>
              <a:p>
                <a:pPr lvl="1"/>
                <a:r>
                  <a:rPr lang="zh-TW" altLang="en-US" sz="2000" dirty="0"/>
                  <a:t>其中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/>
                  <a:t> </a:t>
                </a:r>
                <a:r>
                  <a:rPr lang="zh-TW" altLang="en-US" sz="2000" dirty="0"/>
                  <a:t>為複雜度量級的下界</a:t>
                </a:r>
                <a:endParaRPr lang="en-US" altLang="zh-TW" sz="2000" dirty="0"/>
              </a:p>
              <a:p>
                <a:pPr lvl="1"/>
                <a:r>
                  <a:rPr lang="en-US" altLang="zh-TW" sz="2000" dirty="0"/>
                  <a:t>ex.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+3∊</m:t>
                    </m:r>
                    <m:r>
                      <m:rPr>
                        <m:sty m:val="p"/>
                      </m:rPr>
                      <a:rPr lang="el-GR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/>
              </a:p>
              <a:p>
                <a:pPr lvl="1"/>
                <a:r>
                  <a:rPr lang="en-US" altLang="zh-TW" sz="2000" dirty="0"/>
                  <a:t>ex.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∊</m:t>
                    </m:r>
                    <m:r>
                      <m:rPr>
                        <m:sty m:val="p"/>
                      </m:rPr>
                      <a:rPr lang="el-GR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zh-TW" altLang="en-US" sz="2000" i="1">
                        <a:latin typeface="Cambria Math" panose="02040503050406030204" pitchFamily="18" charset="0"/>
                      </a:rPr>
                      <m:t>，則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)∊</m:t>
                    </m:r>
                    <m:r>
                      <m:rPr>
                        <m:sty m:val="p"/>
                      </m:rPr>
                      <a:rPr lang="el-GR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/>
              </a:p>
              <a:p>
                <a:r>
                  <a:rPr lang="en-US" altLang="zh-TW" sz="2400" dirty="0" smtClean="0"/>
                  <a:t>Little-omega</a:t>
                </a:r>
                <a:endParaRPr lang="en-US" altLang="zh-TW" sz="2000" dirty="0"/>
              </a:p>
              <a:p>
                <a:pPr lvl="1"/>
                <a:r>
                  <a:rPr lang="zh-TW" altLang="en-US" sz="2000" dirty="0"/>
                  <a:t>記為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/>
              </a:p>
              <a:p>
                <a:pPr lvl="1"/>
                <a:r>
                  <a:rPr lang="zh-TW" altLang="en-US" sz="2000" dirty="0"/>
                  <a:t>其中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/>
                  <a:t> </a:t>
                </a:r>
                <a:r>
                  <a:rPr lang="zh-TW" altLang="en-US" sz="2000" dirty="0"/>
                  <a:t>為複雜度量級</a:t>
                </a:r>
                <a:r>
                  <a:rPr lang="zh-TW" altLang="en-US" sz="2000" dirty="0" smtClean="0"/>
                  <a:t>的</a:t>
                </a:r>
                <a:r>
                  <a:rPr lang="zh-TW" altLang="en-US" sz="2000" b="1" dirty="0" smtClean="0"/>
                  <a:t>嚴格</a:t>
                </a:r>
                <a:r>
                  <a:rPr lang="zh-TW" altLang="en-US" sz="2000" dirty="0" smtClean="0"/>
                  <a:t>下</a:t>
                </a:r>
                <a:r>
                  <a:rPr lang="zh-TW" altLang="en-US" sz="2000" dirty="0"/>
                  <a:t>界</a:t>
                </a:r>
                <a:endParaRPr lang="en-US" altLang="zh-TW" sz="2000" dirty="0"/>
              </a:p>
              <a:p>
                <a:pPr lvl="1"/>
                <a:r>
                  <a:rPr lang="en-US" altLang="zh-TW" sz="2000" dirty="0"/>
                  <a:t>ex.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+3∊</m:t>
                    </m:r>
                    <m:r>
                      <m:rPr>
                        <m:sty m:val="p"/>
                      </m:rPr>
                      <a:rPr lang="el-GR" altLang="zh-TW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/>
              </a:p>
              <a:p>
                <a:pPr lvl="1"/>
                <a:r>
                  <a:rPr lang="en-US" altLang="zh-TW" sz="2000" dirty="0"/>
                  <a:t>ex.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+3∉</m:t>
                    </m:r>
                    <m:r>
                      <m:rPr>
                        <m:sty m:val="p"/>
                      </m:rPr>
                      <a:rPr lang="el-GR" altLang="zh-TW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/>
              </a:p>
              <a:p>
                <a:pPr lvl="1"/>
                <a:endParaRPr lang="en-US" altLang="zh-TW" sz="2000" dirty="0" smtClean="0"/>
              </a:p>
              <a:p>
                <a:endParaRPr lang="en-US" altLang="zh-TW" dirty="0"/>
              </a:p>
              <a:p>
                <a:pPr marL="342900" lvl="1" indent="0">
                  <a:buNone/>
                </a:pPr>
                <a:endParaRPr lang="en-US" altLang="zh-TW" dirty="0"/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900" y="1587230"/>
                <a:ext cx="10515600" cy="4851670"/>
              </a:xfrm>
              <a:blipFill rotWithShape="0">
                <a:blip r:embed="rId2"/>
                <a:stretch>
                  <a:fillRect l="-754" t="-17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8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其他符號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104900" y="1587230"/>
                <a:ext cx="10668000" cy="462969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 smtClean="0"/>
                  <a:t>Big-theta</a:t>
                </a:r>
              </a:p>
              <a:p>
                <a:pPr lvl="1"/>
                <a:r>
                  <a:rPr lang="zh-TW" altLang="en-US" sz="2000" dirty="0" smtClean="0"/>
                  <a:t>記為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 smtClean="0"/>
              </a:p>
              <a:p>
                <a:pPr lvl="1"/>
                <a:r>
                  <a:rPr lang="zh-TW" altLang="en-US" sz="2000" dirty="0"/>
                  <a:t>其中</a:t>
                </a:r>
                <a:r>
                  <a:rPr lang="zh-TW" alt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/>
                  <a:t> </a:t>
                </a:r>
                <a:r>
                  <a:rPr lang="zh-TW" altLang="en-US" sz="2000" dirty="0"/>
                  <a:t>為複雜度量級</a:t>
                </a:r>
                <a:r>
                  <a:rPr lang="zh-TW" altLang="en-US" sz="2000" dirty="0" smtClean="0"/>
                  <a:t>的嚴格上下界 </a:t>
                </a:r>
                <a:r>
                  <a:rPr lang="en-US" altLang="zh-TW" sz="2000" dirty="0" smtClean="0"/>
                  <a:t>(</a:t>
                </a:r>
                <a:r>
                  <a:rPr lang="zh-TW" altLang="en-US" sz="2000" dirty="0" smtClean="0"/>
                  <a:t>完全相同！</a:t>
                </a:r>
                <a:r>
                  <a:rPr lang="en-US" altLang="zh-TW" sz="2000" dirty="0" smtClean="0"/>
                  <a:t>)</a:t>
                </a:r>
              </a:p>
              <a:p>
                <a:pPr lvl="1"/>
                <a:r>
                  <a:rPr lang="en-US" altLang="zh-TW" sz="2000" dirty="0" smtClean="0"/>
                  <a:t>ex.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+3∊</m:t>
                    </m:r>
                    <m:r>
                      <m:rPr>
                        <m:sty m:val="p"/>
                      </m:rPr>
                      <a:rPr lang="el-GR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 smtClean="0"/>
              </a:p>
              <a:p>
                <a:pPr lvl="1"/>
                <a:r>
                  <a:rPr lang="en-US" altLang="zh-TW" sz="2000" dirty="0" smtClean="0"/>
                  <a:t>ex.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+3∉</m:t>
                    </m:r>
                    <m:r>
                      <m:rPr>
                        <m:sty m:val="p"/>
                      </m:rPr>
                      <a:rPr lang="el-GR" altLang="zh-TW" sz="200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 smtClean="0"/>
              </a:p>
              <a:p>
                <a:pPr lvl="1"/>
                <a:r>
                  <a:rPr lang="en-US" altLang="zh-TW" sz="2000" dirty="0"/>
                  <a:t>ex.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+3∉</m:t>
                    </m:r>
                    <m:r>
                      <m:rPr>
                        <m:sty m:val="p"/>
                      </m:rPr>
                      <a:rPr lang="el-GR" altLang="zh-TW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 smtClean="0"/>
              </a:p>
              <a:p>
                <a:r>
                  <a:rPr lang="zh-TW" altLang="en-US" sz="2400" dirty="0" smtClean="0"/>
                  <a:t>一般來說 </a:t>
                </a:r>
                <a:r>
                  <a:rPr lang="en-US" altLang="zh-TW" sz="2400" dirty="0" smtClean="0"/>
                  <a:t>(</a:t>
                </a:r>
                <a:r>
                  <a:rPr lang="zh-TW" altLang="en-US" sz="2400" dirty="0" smtClean="0"/>
                  <a:t>至少在</a:t>
                </a:r>
                <a:r>
                  <a:rPr lang="en-US" altLang="zh-TW" sz="2400" dirty="0"/>
                  <a:t> </a:t>
                </a:r>
                <a:r>
                  <a:rPr lang="en-US" altLang="zh-TW" sz="2400" dirty="0" smtClean="0"/>
                  <a:t>2014 </a:t>
                </a:r>
                <a:r>
                  <a:rPr lang="zh-TW" altLang="en-US" sz="2400" dirty="0" smtClean="0"/>
                  <a:t>資訊之芽</a:t>
                </a:r>
                <a:r>
                  <a:rPr lang="en-US" altLang="zh-TW" sz="2400" dirty="0" smtClean="0"/>
                  <a:t>)</a:t>
                </a:r>
                <a:r>
                  <a:rPr lang="zh-TW" altLang="en-US" sz="2400" dirty="0" smtClean="0"/>
                  <a:t>，我們最常用到 </a:t>
                </a:r>
                <a:r>
                  <a:rPr lang="en-US" altLang="zh-TW" sz="2400" dirty="0" smtClean="0"/>
                  <a:t>Big-O </a:t>
                </a:r>
                <a:r>
                  <a:rPr lang="zh-TW" altLang="en-US" sz="2400" dirty="0" smtClean="0"/>
                  <a:t>和 </a:t>
                </a:r>
                <a:r>
                  <a:rPr lang="en-US" altLang="zh-TW" sz="2400" dirty="0" smtClean="0"/>
                  <a:t>Big-theta</a:t>
                </a:r>
                <a:endParaRPr lang="en-US" altLang="zh-TW" dirty="0"/>
              </a:p>
              <a:p>
                <a:pPr lvl="1"/>
                <a:endParaRPr lang="en-US" altLang="zh-TW" sz="2000" dirty="0"/>
              </a:p>
              <a:p>
                <a:pPr lvl="1"/>
                <a:endParaRPr lang="en-US" altLang="zh-TW" sz="2000" dirty="0"/>
              </a:p>
              <a:p>
                <a:pPr lvl="1"/>
                <a:endParaRPr lang="en-US" altLang="zh-TW" sz="2000" dirty="0"/>
              </a:p>
              <a:p>
                <a:pPr lvl="1"/>
                <a:endParaRPr lang="zh-TW" altLang="en-US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900" y="1587230"/>
                <a:ext cx="10668000" cy="4629693"/>
              </a:xfrm>
              <a:blipFill rotWithShape="0">
                <a:blip r:embed="rId2"/>
                <a:stretch>
                  <a:fillRect l="-743" t="-1842" r="-2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12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如果時間不穩定？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sz="2400" dirty="0" smtClean="0"/>
                  <a:t>通常我們不能夠容忍最壞情況非常糟，儘管出現機率不高</a:t>
                </a:r>
                <a:endParaRPr lang="en-US" altLang="zh-TW" sz="2400" dirty="0" smtClean="0"/>
              </a:p>
              <a:p>
                <a:r>
                  <a:rPr lang="zh-TW" altLang="en-US" sz="2400" dirty="0"/>
                  <a:t>多數情況我們</a:t>
                </a:r>
                <a:r>
                  <a:rPr lang="zh-TW" altLang="en-US" sz="2400" dirty="0" smtClean="0"/>
                  <a:t>總是關注算法中最壞的 </a:t>
                </a:r>
                <a:r>
                  <a:rPr lang="en-US" altLang="zh-TW" sz="2400" dirty="0" smtClean="0"/>
                  <a:t>case</a:t>
                </a:r>
              </a:p>
              <a:p>
                <a:r>
                  <a:rPr lang="en-US" altLang="zh-TW" sz="2400" dirty="0" smtClean="0"/>
                  <a:t>ex. </a:t>
                </a:r>
                <a:r>
                  <a:rPr lang="zh-TW" altLang="en-US" sz="2400" dirty="0" smtClean="0"/>
                  <a:t>插入排序法</a:t>
                </a:r>
                <a:endParaRPr lang="en-US" altLang="zh-TW" sz="2400" dirty="0" smtClean="0"/>
              </a:p>
              <a:p>
                <a:pPr lvl="1"/>
                <a:r>
                  <a:rPr lang="en-US" altLang="zh-TW" sz="2000" dirty="0" smtClean="0"/>
                  <a:t>1. </a:t>
                </a:r>
                <a:r>
                  <a:rPr lang="zh-TW" altLang="en-US" sz="2000" dirty="0" smtClean="0"/>
                  <a:t>從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1~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000" dirty="0" smtClean="0"/>
                  <a:t> </a:t>
                </a:r>
                <a:r>
                  <a:rPr lang="zh-TW" altLang="en-US" sz="2000" dirty="0" smtClean="0"/>
                  <a:t>依序取出當前第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000" dirty="0" smtClean="0"/>
                  <a:t> </a:t>
                </a:r>
                <a:r>
                  <a:rPr lang="zh-TW" altLang="en-US" sz="2000" dirty="0" smtClean="0"/>
                  <a:t>個元素</a:t>
                </a:r>
                <a:endParaRPr lang="en-US" altLang="zh-TW" sz="2000" dirty="0" smtClean="0"/>
              </a:p>
              <a:p>
                <a:pPr lvl="1"/>
                <a:r>
                  <a:rPr lang="en-US" altLang="zh-TW" sz="2000" dirty="0" smtClean="0"/>
                  <a:t>2. </a:t>
                </a:r>
                <a:r>
                  <a:rPr lang="zh-TW" altLang="en-US" sz="2000" dirty="0" smtClean="0"/>
                  <a:t>把當前元素往前移動到正確的位置</a:t>
                </a:r>
                <a:endParaRPr lang="en-US" altLang="zh-TW" sz="2000" dirty="0" smtClean="0"/>
              </a:p>
              <a:p>
                <a:pPr lvl="1"/>
                <a:r>
                  <a:rPr lang="en-US" altLang="zh-TW" sz="2000" dirty="0" smtClean="0"/>
                  <a:t>ex. 3 2 1 4</a:t>
                </a:r>
              </a:p>
              <a:p>
                <a:pPr lvl="2"/>
                <a:r>
                  <a:rPr lang="en-US" altLang="zh-TW" sz="1600" dirty="0" smtClean="0"/>
                  <a:t>1. </a:t>
                </a:r>
                <a:r>
                  <a:rPr lang="en-US" altLang="zh-TW" sz="1600" dirty="0" smtClean="0">
                    <a:solidFill>
                      <a:srgbClr val="FF0000"/>
                    </a:solidFill>
                  </a:rPr>
                  <a:t>3</a:t>
                </a:r>
                <a:r>
                  <a:rPr lang="en-US" altLang="zh-TW" sz="1600" dirty="0" smtClean="0"/>
                  <a:t> 2 1 4</a:t>
                </a:r>
              </a:p>
              <a:p>
                <a:pPr lvl="2"/>
                <a:r>
                  <a:rPr lang="en-US" altLang="zh-TW" sz="1600" dirty="0" smtClean="0"/>
                  <a:t>2. </a:t>
                </a:r>
                <a:r>
                  <a:rPr lang="en-US" altLang="zh-TW" sz="16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1600" dirty="0" smtClean="0"/>
                  <a:t> 3 1 4</a:t>
                </a:r>
              </a:p>
              <a:p>
                <a:pPr lvl="2"/>
                <a:r>
                  <a:rPr lang="en-US" altLang="zh-TW" sz="1600" dirty="0" smtClean="0"/>
                  <a:t>3. 2 </a:t>
                </a:r>
                <a:r>
                  <a:rPr lang="en-US" altLang="zh-TW" sz="16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1600" dirty="0" smtClean="0"/>
                  <a:t> 3 4</a:t>
                </a:r>
              </a:p>
              <a:p>
                <a:pPr lvl="2"/>
                <a:r>
                  <a:rPr lang="en-US" altLang="zh-TW" sz="1600" dirty="0" smtClean="0"/>
                  <a:t>4. </a:t>
                </a:r>
                <a:r>
                  <a:rPr lang="en-US" altLang="zh-TW" sz="16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1600" dirty="0" smtClean="0"/>
                  <a:t> 2 3 4</a:t>
                </a:r>
              </a:p>
              <a:p>
                <a:pPr lvl="2"/>
                <a:r>
                  <a:rPr lang="en-US" altLang="zh-TW" sz="1600" dirty="0" smtClean="0"/>
                  <a:t>5. 1 2 3 </a:t>
                </a:r>
                <a:r>
                  <a:rPr lang="en-US" altLang="zh-TW" sz="1600" dirty="0" smtClean="0">
                    <a:solidFill>
                      <a:srgbClr val="FF0000"/>
                    </a:solidFill>
                  </a:rPr>
                  <a:t>4</a:t>
                </a:r>
              </a:p>
              <a:p>
                <a:pPr lvl="1"/>
                <a:r>
                  <a:rPr lang="en-US" altLang="zh-TW" dirty="0" smtClean="0"/>
                  <a:t>best case: </a:t>
                </a:r>
                <a:r>
                  <a:rPr lang="zh-TW" altLang="en-US" dirty="0" smtClean="0"/>
                  <a:t>一開始就排好，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worst case: </a:t>
                </a:r>
                <a:r>
                  <a:rPr lang="zh-TW" altLang="en-US" dirty="0" smtClean="0"/>
                  <a:t>完全逆序 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−1,…,1</m:t>
                    </m:r>
                  </m:oMath>
                </a14:m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19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13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想一想</a:t>
            </a:r>
            <a:r>
              <a:rPr lang="en-US" altLang="zh-TW" dirty="0" smtClean="0"/>
              <a:t>……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104900" y="1587230"/>
                <a:ext cx="10515600" cy="5029470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sz="2000" dirty="0" smtClean="0"/>
                  <a:t>複雜度的全名實際上是「漸近複雜度」，你覺得是為什麼呢？</a:t>
                </a:r>
                <a:r>
                  <a:rPr lang="en-US" altLang="zh-TW" sz="2000" dirty="0" smtClean="0"/>
                  <a:t>(</a:t>
                </a:r>
                <a:r>
                  <a:rPr lang="zh-TW" altLang="en-US" sz="2000" dirty="0" smtClean="0"/>
                  <a:t>提示：跟漸近線有點關係</a:t>
                </a:r>
                <a:r>
                  <a:rPr lang="en-US" altLang="zh-TW" sz="2000" dirty="0" smtClean="0"/>
                  <a:t>)</a:t>
                </a:r>
              </a:p>
              <a:p>
                <a:r>
                  <a:rPr lang="zh-TW" altLang="en-US" sz="2000" dirty="0"/>
                  <a:t>複雜度評估有什麼關鍵的壞處</a:t>
                </a:r>
                <a:r>
                  <a:rPr lang="zh-TW" altLang="en-US" sz="2000" dirty="0" smtClean="0"/>
                  <a:t>？總是選擇複雜度低的方式就一定好嗎？</a:t>
                </a:r>
                <a:endParaRPr lang="en-US" altLang="zh-TW" sz="2000" dirty="0" smtClean="0"/>
              </a:p>
              <a:p>
                <a:r>
                  <a:rPr lang="zh-TW" altLang="en-US" sz="2000" dirty="0" smtClean="0"/>
                  <a:t>上次上課時介紹了質數的檢測方式以及優化。試著分析一下複雜度各是多少吧！</a:t>
                </a:r>
                <a:r>
                  <a:rPr lang="en-US" altLang="zh-TW" sz="2000" dirty="0" smtClean="0"/>
                  <a:t>(</a:t>
                </a:r>
                <a:r>
                  <a:rPr lang="zh-TW" altLang="en-US" sz="2000" dirty="0" smtClean="0"/>
                  <a:t>篩法除外，數學成份過重</a:t>
                </a:r>
                <a:r>
                  <a:rPr lang="en-US" altLang="zh-TW" sz="2000" dirty="0" smtClean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 smtClean="0"/>
                  <a:t>，其中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 dirty="0" smtClean="0"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lang="en-US" altLang="zh-TW" sz="2000" dirty="0" smtClean="0"/>
                  <a:t> </a:t>
                </a:r>
                <a:r>
                  <a:rPr lang="zh-TW" altLang="en-US" sz="2000" dirty="0" smtClean="0"/>
                  <a:t>函數會取其中量級較大的函數。這是為什麼呢？</a:t>
                </a:r>
                <a:endParaRPr lang="en-US" altLang="zh-TW" sz="2000" dirty="0" smtClean="0"/>
              </a:p>
              <a:p>
                <a:r>
                  <a:rPr lang="zh-TW" altLang="en-US" sz="2000" dirty="0" smtClean="0"/>
                  <a:t>若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 smtClean="0"/>
                  <a:t>，那麼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1(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2(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1(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2(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zh-TW" altLang="en-US" sz="2000" dirty="0" smtClean="0"/>
                  <a:t>，這是為什麼呢？</a:t>
                </a:r>
                <a:endParaRPr lang="en-US" altLang="zh-TW" sz="2000" dirty="0" smtClean="0"/>
              </a:p>
              <a:p>
                <a:r>
                  <a:rPr lang="zh-TW" altLang="en-US" sz="2000" dirty="0"/>
                  <a:t>實務</a:t>
                </a:r>
                <a:r>
                  <a:rPr lang="zh-TW" altLang="en-US" sz="2000" dirty="0" smtClean="0"/>
                  <a:t>中，如果一個算法空間複雜度很高但時間複雜度較低，另一個算法時間複雜度很高但空間複雜度較低，哪一個算法在小範圍的時候比較實際？哪一個算法大範圍的時候比較實際？為什麼？</a:t>
                </a:r>
                <a:endParaRPr lang="en-US" altLang="zh-TW" sz="2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900" y="1587230"/>
                <a:ext cx="10515600" cy="5029470"/>
              </a:xfrm>
              <a:blipFill rotWithShape="0">
                <a:blip r:embed="rId2"/>
                <a:stretch>
                  <a:fillRect l="-522" t="-1212" r="-29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5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prout(16_9 non_star)_v2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rout(16_9 non_star)_v2" id="{777BB020-0C7E-4629-B928-4C0E1C5ED693}" vid="{9E51F1D0-936B-463C-A028-B452955FD41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Sprout</Template>
  <TotalTime>214</TotalTime>
  <Words>772</Words>
  <Application>Microsoft Office PowerPoint</Application>
  <PresentationFormat>寬螢幕</PresentationFormat>
  <Paragraphs>169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5" baseType="lpstr">
      <vt:lpstr>微軟正黑體</vt:lpstr>
      <vt:lpstr>新細明體</vt:lpstr>
      <vt:lpstr>Arial</vt:lpstr>
      <vt:lpstr>Calibri</vt:lpstr>
      <vt:lpstr>Calibri Light</vt:lpstr>
      <vt:lpstr>Cambria Math</vt:lpstr>
      <vt:lpstr>Consolas</vt:lpstr>
      <vt:lpstr>Sprout(16_9 non_star)_v2</vt:lpstr>
      <vt:lpstr>Complexity</vt:lpstr>
      <vt:lpstr>在之前的投影片中……</vt:lpstr>
      <vt:lpstr>對一個程式來說……</vt:lpstr>
      <vt:lpstr>怎麼衡量？</vt:lpstr>
      <vt:lpstr>一些瓶頸</vt:lpstr>
      <vt:lpstr>複雜度的概念</vt:lpstr>
      <vt:lpstr>量級？</vt:lpstr>
      <vt:lpstr>100n vs 200n？</vt:lpstr>
      <vt:lpstr>常見量級比較</vt:lpstr>
      <vt:lpstr>複雜度的概念</vt:lpstr>
      <vt:lpstr>一些符號</vt:lpstr>
      <vt:lpstr>練習時間</vt:lpstr>
      <vt:lpstr>其他符號</vt:lpstr>
      <vt:lpstr>其他符號</vt:lpstr>
      <vt:lpstr>其他符號</vt:lpstr>
      <vt:lpstr>如果時間不穩定？</vt:lpstr>
      <vt:lpstr>想一想……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Complexity</dc:title>
  <dc:creator>B821213</dc:creator>
  <cp:lastModifiedBy>Ting Wei Lin</cp:lastModifiedBy>
  <cp:revision>29</cp:revision>
  <dcterms:created xsi:type="dcterms:W3CDTF">2014-02-16T06:25:13Z</dcterms:created>
  <dcterms:modified xsi:type="dcterms:W3CDTF">2017-02-25T17:35:36Z</dcterms:modified>
</cp:coreProperties>
</file>